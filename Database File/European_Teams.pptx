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2"/>
  </p:notesMasterIdLst>
  <p:sldIdLst>
    <p:sldId id="256" r:id="rId5"/>
    <p:sldId id="261" r:id="rId6"/>
    <p:sldId id="263" r:id="rId7"/>
    <p:sldId id="264" r:id="rId8"/>
    <p:sldId id="262" r:id="rId9"/>
    <p:sldId id="265" r:id="rId10"/>
    <p:sldId id="260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767CEA7-FC62-44CE-BB8C-110B1D748F24}" v="23" dt="2026-04-23T01:23:52.5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7" d="100"/>
          <a:sy n="117" d="100"/>
        </p:scale>
        <p:origin x="46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3028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C4161-504E-3C1D-101B-A4033259E0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66B62A-4561-E791-0D7D-D34A592807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9D5F16D-1623-29A5-F70E-365761598CB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58807-1874-6450-572B-58E8A4B030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02951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6B74C5-536D-F7A9-E895-CAE9C7D809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584B1A6-7915-64E1-5839-B32667F27C5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83BA32-AB6C-4BA1-4BA0-5B8CC3D2271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3DA028F-A6AA-8363-476C-A39F722603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42794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B4DB4-BF6C-B120-63D1-7A92DAA40C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EAC3E93-D562-50AF-592C-1722156457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A1CEED5-B9F0-8EEE-09C2-80743E62A6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A222B8-AA37-8097-EDD4-D29CC544843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05437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8D301-43B4-CC70-2451-0C232DF1EE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6672E6D-6FEF-61F9-8645-6FCDD74487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63D5924-C0A5-C8BA-306C-DA33C50E23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4D32BC6-3C16-4E94-C78E-47FE19594A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224897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337AF4-9A92-7C7F-7D65-42218C4697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C5B9A5-15C5-37EB-6400-D8E07CF1C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E19958-AE06-CA1C-7117-5E5F724BB7D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192776-3BEE-C32C-9D59-638CE36DEFD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27304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3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6217920" y="457200"/>
            <a:ext cx="2560320" cy="2560320"/>
          </a:xfrm>
          <a:prstGeom prst="ellipse">
            <a:avLst/>
          </a:prstGeom>
          <a:solidFill>
            <a:srgbClr val="2D6A4F"/>
          </a:solidFill>
          <a:ln w="254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217920" y="457200"/>
            <a:ext cx="256032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200" dirty="0">
                <a:solidFill>
                  <a:srgbClr val="000000"/>
                </a:solidFill>
              </a:rPr>
              <a:t>⚽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365760" y="731520"/>
            <a:ext cx="56692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Soccer Teams</a:t>
            </a:r>
            <a:endParaRPr lang="en-US" sz="3800" dirty="0"/>
          </a:p>
        </p:txBody>
      </p:sp>
      <p:sp>
        <p:nvSpPr>
          <p:cNvPr id="6" name="Text 4"/>
          <p:cNvSpPr/>
          <p:nvPr/>
        </p:nvSpPr>
        <p:spPr>
          <a:xfrm>
            <a:off x="365760" y="150876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Progression from 2008 to 2016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2331720"/>
            <a:ext cx="502920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65760" y="2468880"/>
            <a:ext cx="5486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T-SQL &amp; Azure SQL Analysis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65760" y="301752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Derek Arteaga  </a:t>
            </a: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 Christian Saravia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365760" y="34290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Management with T-SQL and Azure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65760" y="438912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6C75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 Kaggle — European Soccer Database  |  25,000+ Matches  |  11 Leagues  |  299 Teams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60537D-EE6F-C85F-7A55-5506DCD13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26C3509-A7AB-7FEB-343C-896BCAEA142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9144000" cy="1312817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FF2C437-B138-1BEB-E04E-C492DBA77D0E}"/>
              </a:ext>
            </a:extLst>
          </p:cNvPr>
          <p:cNvSpPr/>
          <p:nvPr/>
        </p:nvSpPr>
        <p:spPr>
          <a:xfrm>
            <a:off x="169817" y="254726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Introduction</a:t>
            </a:r>
            <a:endParaRPr lang="en-US" sz="6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D5C32F8-94CC-F59F-D7BC-40ADA14AF8A7}"/>
              </a:ext>
            </a:extLst>
          </p:cNvPr>
          <p:cNvSpPr txBox="1"/>
          <p:nvPr/>
        </p:nvSpPr>
        <p:spPr>
          <a:xfrm>
            <a:off x="-741" y="1567543"/>
            <a:ext cx="8936476" cy="30027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European Soccer Database represents the statistics from multiple competitions from the years 2008 to 2016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tracks team performance, player statistics, and match results.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Analysis Goals</a:t>
            </a: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125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Which teams were the most dominant overall from 2008 to 2016?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125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How did top teams' win rates evolve season by season?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125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Which teams were the most efficient — high wins with low losses?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742950" lvl="1" indent="-285750">
              <a:lnSpc>
                <a:spcPct val="150000"/>
              </a:lnSpc>
              <a:buFont typeface="Courier New" panose="02070309020205020404" pitchFamily="49" charset="0"/>
              <a:buChar char="o"/>
            </a:pPr>
            <a:r>
              <a:rPr lang="en-US" sz="1600" dirty="0">
                <a:solidFill>
                  <a:srgbClr val="212529"/>
                </a:solidFill>
                <a:latin typeface="Times New Roman" panose="02020603050405020304" pitchFamily="18" charset="0"/>
                <a:ea typeface="Calibri" pitchFamily="34" charset="-122"/>
                <a:cs typeface="Times New Roman" panose="02020603050405020304" pitchFamily="18" charset="0"/>
              </a:rPr>
              <a:t>Which leagues produced the most dominant teams?</a:t>
            </a: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9057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C42104-3403-3076-6AEA-4BE0826E20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3ECB265-4ABA-CA51-298F-05A6C2B7F8DE}"/>
              </a:ext>
            </a:extLst>
          </p:cNvPr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</p:txBody>
      </p:sp>
      <p:sp>
        <p:nvSpPr>
          <p:cNvPr id="25" name="Shape 0">
            <a:extLst>
              <a:ext uri="{FF2B5EF4-FFF2-40B4-BE49-F238E27FC236}">
                <a16:creationId xmlns:a16="http://schemas.microsoft.com/office/drawing/2014/main" id="{20C01CE6-171C-AA1A-048E-1F12C07D6296}"/>
              </a:ext>
            </a:extLst>
          </p:cNvPr>
          <p:cNvSpPr>
            <a:spLocks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AE2EABF-51A1-9F83-EBF6-5D9F36420ED2}"/>
              </a:ext>
            </a:extLst>
          </p:cNvPr>
          <p:cNvSpPr txBox="1"/>
          <p:nvPr/>
        </p:nvSpPr>
        <p:spPr>
          <a:xfrm>
            <a:off x="188068" y="1255257"/>
            <a:ext cx="8618706" cy="33733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Downloaded the European Soccer Database from Kaggle (SQLite format)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Converted it to CSV files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Loaded all 7 tables into Azure SQL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Connected VS Code to Azure SQL using the SQL Server extension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Wrote 13 T-SQL queries covering JOINs, GROUP BY + HAVING, Variable, Subqueries, and CTEs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Visualized results using </a:t>
            </a:r>
            <a:r>
              <a:rPr lang="en-US" dirty="0" err="1"/>
              <a:t>DBCode</a:t>
            </a:r>
            <a:r>
              <a:rPr lang="en-US" dirty="0"/>
              <a:t> charts</a:t>
            </a: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Published everything to GitHub</a:t>
            </a:r>
          </a:p>
        </p:txBody>
      </p:sp>
    </p:spTree>
    <p:extLst>
      <p:ext uri="{BB962C8B-B14F-4D97-AF65-F5344CB8AC3E}">
        <p14:creationId xmlns:p14="http://schemas.microsoft.com/office/powerpoint/2010/main" val="8362456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1B6572-61F5-12D0-9810-2BEE2DDF6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F773CF67-262E-8C0B-9F0F-381E515B61D5}"/>
              </a:ext>
            </a:extLst>
          </p:cNvPr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and Findings</a:t>
            </a:r>
            <a:endParaRPr lang="en-US" sz="2200" dirty="0"/>
          </a:p>
        </p:txBody>
      </p:sp>
      <p:sp>
        <p:nvSpPr>
          <p:cNvPr id="25" name="Shape 0">
            <a:extLst>
              <a:ext uri="{FF2B5EF4-FFF2-40B4-BE49-F238E27FC236}">
                <a16:creationId xmlns:a16="http://schemas.microsoft.com/office/drawing/2014/main" id="{53A078E4-C90E-70EB-8E5F-42368EDFB032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Analysis and Findings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6683566-3ED0-7CDB-834A-8B18251A6877}"/>
              </a:ext>
            </a:extLst>
          </p:cNvPr>
          <p:cNvSpPr txBox="1"/>
          <p:nvPr/>
        </p:nvSpPr>
        <p:spPr>
          <a:xfrm>
            <a:off x="188976" y="1514856"/>
            <a:ext cx="7918704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Goal 1: FC Barcelona led the teams in both wins and win rate with 131 wins and an 86% win rate with Real Madrid close behind with 129 wins.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Goal 2: FC Barcelona was the most consistent, Juventus had a noteworthy improvement season by season and Chelsea went from a 79% home win-rate and in the 2015/16 season to just 26%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Goal 3: FC Barcelona had the most wins and the fewest losses while Chelsea was the top team with the most losses. Only a small group crossed 100 wins over 8 seasons.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Goal 4: LaLiga is home to the most dominant teams in Europe, with Barcelona and Real Madrid being a huge factor.</a:t>
            </a:r>
          </a:p>
        </p:txBody>
      </p:sp>
    </p:spTree>
    <p:extLst>
      <p:ext uri="{BB962C8B-B14F-4D97-AF65-F5344CB8AC3E}">
        <p14:creationId xmlns:p14="http://schemas.microsoft.com/office/powerpoint/2010/main" val="8754372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E88EC6-FD17-13B3-EC66-A2BE549A0E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CC1547B8-0A34-187C-4894-58057D07AEA5}"/>
              </a:ext>
            </a:extLst>
          </p:cNvPr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and Recommendations</a:t>
            </a:r>
            <a:endParaRPr lang="en-US" sz="2200" dirty="0"/>
          </a:p>
        </p:txBody>
      </p:sp>
      <p:sp>
        <p:nvSpPr>
          <p:cNvPr id="25" name="Shape 0">
            <a:extLst>
              <a:ext uri="{FF2B5EF4-FFF2-40B4-BE49-F238E27FC236}">
                <a16:creationId xmlns:a16="http://schemas.microsoft.com/office/drawing/2014/main" id="{FBB6862A-A8DD-856C-4720-08C8A1BEBF47}"/>
              </a:ext>
            </a:extLst>
          </p:cNvPr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879BB75-BB5B-09AC-D673-F8143097C6EE}"/>
              </a:ext>
            </a:extLst>
          </p:cNvPr>
          <p:cNvSpPr txBox="1"/>
          <p:nvPr/>
        </p:nvSpPr>
        <p:spPr>
          <a:xfrm>
            <a:off x="274320" y="1207008"/>
            <a:ext cx="8595360" cy="37888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Barcelona was the most dominant team from 2008 to 2016, most likely due to Lionel Messi being in his prime during these years.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Celtic was a surprising team to be consistently at the top in terms of wins and </a:t>
            </a:r>
            <a:r>
              <a:rPr lang="en-US" dirty="0" err="1"/>
              <a:t>winrate</a:t>
            </a:r>
            <a:endParaRPr lang="en-US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 Juventus documented the biggest improvement out of all the European top teams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Chelsea had a surprising decline in home wins going from 15/19 to 5/19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La Liga had the most dominant teams in Barcelona and Real Madrid more than likely thanks to their stars Lionel Messi and Cristiano Ronaldo being present during these years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en-US" dirty="0"/>
              <a:t>Only 15 teams crossed 100 wins in these years</a:t>
            </a:r>
          </a:p>
        </p:txBody>
      </p:sp>
    </p:spTree>
    <p:extLst>
      <p:ext uri="{BB962C8B-B14F-4D97-AF65-F5344CB8AC3E}">
        <p14:creationId xmlns:p14="http://schemas.microsoft.com/office/powerpoint/2010/main" val="33937906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E78A1E-FB6A-81E6-375D-8808E67D8B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>
            <a:extLst>
              <a:ext uri="{FF2B5EF4-FFF2-40B4-BE49-F238E27FC236}">
                <a16:creationId xmlns:a16="http://schemas.microsoft.com/office/drawing/2014/main" id="{624CA767-1008-59D9-4C82-DC25C2E899DA}"/>
              </a:ext>
            </a:extLst>
          </p:cNvPr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60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Process</a:t>
            </a:r>
          </a:p>
        </p:txBody>
      </p:sp>
      <p:sp>
        <p:nvSpPr>
          <p:cNvPr id="25" name="Shape 0">
            <a:extLst>
              <a:ext uri="{FF2B5EF4-FFF2-40B4-BE49-F238E27FC236}">
                <a16:creationId xmlns:a16="http://schemas.microsoft.com/office/drawing/2014/main" id="{005E09FC-7E20-C1C5-AF0F-ED8EB74684B5}"/>
              </a:ext>
            </a:extLst>
          </p:cNvPr>
          <p:cNvSpPr>
            <a:spLocks/>
          </p:cNvSpPr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A3C2E"/>
          </a:solidFill>
          <a:ln w="12700">
            <a:solidFill>
              <a:srgbClr val="1A3C2E"/>
            </a:solidFill>
            <a:prstDash val="solid"/>
          </a:ln>
        </p:spPr>
        <p:txBody>
          <a:bodyPr/>
          <a:lstStyle/>
          <a:p>
            <a:r>
              <a:rPr lang="en-US" sz="4400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the Database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D1ACA8-F6DE-DBA1-CCB2-318065D5FD5E}"/>
              </a:ext>
            </a:extLst>
          </p:cNvPr>
          <p:cNvSpPr txBox="1"/>
          <p:nvPr/>
        </p:nvSpPr>
        <p:spPr>
          <a:xfrm>
            <a:off x="0" y="1423153"/>
            <a:ext cx="4474464" cy="27988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Kaggle European Soccer Database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25,979 total matches analyzed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European leagues covered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299 teams across 8 seasons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Seasons: 2008/2009 to 2015/2016</a:t>
            </a:r>
            <a:endParaRPr lang="en-US" sz="18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Font typeface="Wingdings" panose="05000000000000000000" pitchFamily="2" charset="2"/>
              <a:buChar char="Ø"/>
            </a:pPr>
            <a:r>
              <a:rPr lang="en-US" sz="18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into Azure SQL Database</a:t>
            </a:r>
            <a:endParaRPr lang="en-US" sz="1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1FD16AB-1749-3AC1-F2D4-7CD814A49130}"/>
              </a:ext>
            </a:extLst>
          </p:cNvPr>
          <p:cNvSpPr txBox="1"/>
          <p:nvPr/>
        </p:nvSpPr>
        <p:spPr>
          <a:xfrm>
            <a:off x="4669538" y="1572752"/>
            <a:ext cx="4700016" cy="26673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800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tables</a:t>
            </a:r>
            <a:endParaRPr lang="en-US" dirty="0">
              <a:solidFill>
                <a:srgbClr val="212529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800100" lvl="1" indent="-342900">
              <a:spcAft>
                <a:spcPts val="4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12529"/>
                </a:solidFill>
                <a:latin typeface="Calibri" pitchFamily="34" charset="0"/>
                <a:cs typeface="Calibri" pitchFamily="34" charset="-120"/>
              </a:rPr>
              <a:t>Country</a:t>
            </a:r>
          </a:p>
          <a:p>
            <a:pPr marL="800100" lvl="1" indent="-342900">
              <a:spcAft>
                <a:spcPts val="4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12529"/>
                </a:solidFill>
                <a:latin typeface="Calibri" pitchFamily="34" charset="0"/>
                <a:cs typeface="Calibri" pitchFamily="34" charset="-120"/>
              </a:rPr>
              <a:t>League</a:t>
            </a:r>
          </a:p>
          <a:p>
            <a:pPr marL="800100" lvl="1" indent="-342900">
              <a:spcAft>
                <a:spcPts val="4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12529"/>
                </a:solidFill>
                <a:latin typeface="Calibri" pitchFamily="34" charset="0"/>
                <a:cs typeface="Calibri" pitchFamily="34" charset="-120"/>
              </a:rPr>
              <a:t>Match</a:t>
            </a:r>
          </a:p>
          <a:p>
            <a:pPr marL="800100" lvl="1" indent="-342900">
              <a:spcAft>
                <a:spcPts val="4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12529"/>
                </a:solidFill>
                <a:latin typeface="Calibri" pitchFamily="34" charset="0"/>
                <a:cs typeface="Calibri" pitchFamily="34" charset="-120"/>
              </a:rPr>
              <a:t>Player</a:t>
            </a:r>
          </a:p>
          <a:p>
            <a:pPr marL="800100" lvl="1" indent="-342900">
              <a:spcAft>
                <a:spcPts val="4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212529"/>
                </a:solidFill>
                <a:latin typeface="Calibri" pitchFamily="34" charset="0"/>
                <a:cs typeface="Calibri" pitchFamily="34" charset="-120"/>
              </a:rPr>
              <a:t>Player_Attributes</a:t>
            </a:r>
            <a:endParaRPr lang="en-US" dirty="0">
              <a:solidFill>
                <a:srgbClr val="212529"/>
              </a:solidFill>
              <a:latin typeface="Calibri" pitchFamily="34" charset="0"/>
              <a:cs typeface="Calibri" pitchFamily="34" charset="-120"/>
            </a:endParaRPr>
          </a:p>
          <a:p>
            <a:pPr marL="800100" lvl="1" indent="-342900">
              <a:spcAft>
                <a:spcPts val="4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212529"/>
                </a:solidFill>
                <a:latin typeface="Calibri" pitchFamily="34" charset="0"/>
                <a:cs typeface="Calibri" pitchFamily="34" charset="-120"/>
              </a:rPr>
              <a:t>Team</a:t>
            </a:r>
          </a:p>
          <a:p>
            <a:pPr marL="800100" lvl="1" indent="-342900">
              <a:spcAft>
                <a:spcPts val="400"/>
              </a:spcAft>
              <a:buSzPct val="100000"/>
              <a:buFont typeface="Wingdings" panose="05000000000000000000" pitchFamily="2" charset="2"/>
              <a:buChar char="§"/>
            </a:pPr>
            <a:r>
              <a:rPr lang="en-US" dirty="0" err="1">
                <a:solidFill>
                  <a:srgbClr val="212529"/>
                </a:solidFill>
                <a:latin typeface="Calibri" pitchFamily="34" charset="0"/>
                <a:cs typeface="Calibri" pitchFamily="34" charset="-120"/>
              </a:rPr>
              <a:t>Team_Attributes</a:t>
            </a:r>
            <a:endParaRPr lang="en-US" dirty="0">
              <a:solidFill>
                <a:srgbClr val="212529"/>
              </a:solidFill>
              <a:latin typeface="Calibri" pitchFamily="34" charset="0"/>
              <a:cs typeface="Calibri" pitchFamily="34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25281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3C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0" y="914400"/>
            <a:ext cx="2011680" cy="2011680"/>
          </a:xfrm>
          <a:prstGeom prst="ellipse">
            <a:avLst/>
          </a:prstGeom>
          <a:solidFill>
            <a:srgbClr val="2D6A4F"/>
          </a:solidFill>
          <a:ln w="25400">
            <a:solidFill>
              <a:srgbClr val="52B78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0" y="914400"/>
            <a:ext cx="201168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dirty="0">
                <a:solidFill>
                  <a:srgbClr val="000000"/>
                </a:solidFill>
              </a:rPr>
              <a:t>⚽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6400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188720"/>
            <a:ext cx="5943600" cy="36576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417320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920240" y="141732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— European Soccer Database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https://www.kaggle.com/datasets/hugomathien/soccer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75688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920240" y="207568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 SQL Database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https://portal.azure.com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734056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920240" y="2734056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SQL Server Extension + DBCode Extension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3392424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Language: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920240" y="3392424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T-SQL (Transact-SQL) — Microsoft SQL Server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0507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Version Control: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920240" y="4050792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— Soccer-Team-Performance-2006-2016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457200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i="1" dirty="0">
                <a:solidFill>
                  <a:srgbClr val="52B7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you!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B4BCE1D1FBE6E47B84B4756DE2F745B" ma:contentTypeVersion="6" ma:contentTypeDescription="Create a new document." ma:contentTypeScope="" ma:versionID="13b7dfa48c1c30c6bb0ce55330bef95e">
  <xsd:schema xmlns:xsd="http://www.w3.org/2001/XMLSchema" xmlns:xs="http://www.w3.org/2001/XMLSchema" xmlns:p="http://schemas.microsoft.com/office/2006/metadata/properties" xmlns:ns3="6c94ddba-a33f-4a77-94b6-99cc0a24b59a" targetNamespace="http://schemas.microsoft.com/office/2006/metadata/properties" ma:root="true" ma:fieldsID="47f8dce18655f134451955075e8eb7c8" ns3:_="">
    <xsd:import namespace="6c94ddba-a33f-4a77-94b6-99cc0a24b59a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MediaServiceSearchPropertie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c94ddba-a33f-4a77-94b6-99cc0a24b59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6c94ddba-a33f-4a77-94b6-99cc0a24b59a" xsi:nil="true"/>
  </documentManagement>
</p:properties>
</file>

<file path=customXml/itemProps1.xml><?xml version="1.0" encoding="utf-8"?>
<ds:datastoreItem xmlns:ds="http://schemas.openxmlformats.org/officeDocument/2006/customXml" ds:itemID="{40294AC7-C4A0-48CB-9526-40B575DA83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6c94ddba-a33f-4a77-94b6-99cc0a24b59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2C655BAC-8BFE-4746-9B23-9B6B86B0DE2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123D0732-39EF-4034-BFC3-72D42F637BDF}">
  <ds:schemaRefs>
    <ds:schemaRef ds:uri="http://schemas.microsoft.com/office/2006/metadata/properties"/>
    <ds:schemaRef ds:uri="http://purl.org/dc/terms/"/>
    <ds:schemaRef ds:uri="http://purl.org/dc/elements/1.1/"/>
    <ds:schemaRef ds:uri="http://www.w3.org/XML/1998/namespace"/>
    <ds:schemaRef ds:uri="http://schemas.microsoft.com/office/infopath/2007/PartnerControls"/>
    <ds:schemaRef ds:uri="http://schemas.microsoft.com/office/2006/documentManagement/types"/>
    <ds:schemaRef ds:uri="http://schemas.openxmlformats.org/package/2006/metadata/core-properties"/>
    <ds:schemaRef ds:uri="6c94ddba-a33f-4a77-94b6-99cc0a24b59a"/>
    <ds:schemaRef ds:uri="http://purl.org/dc/dcmitype/"/>
  </ds:schemaRefs>
</ds:datastoreItem>
</file>

<file path=docMetadata/LabelInfo.xml><?xml version="1.0" encoding="utf-8"?>
<clbl:labelList xmlns:clbl="http://schemas.microsoft.com/office/2020/mipLabelMetadata">
  <clbl:label id="{b0626806-ceff-4393-821e-f9a3e666893b}" enabled="0" method="" siteId="{b0626806-ceff-4393-821e-f9a3e666893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542</Words>
  <Application>Microsoft Office PowerPoint</Application>
  <PresentationFormat>On-screen Show (16:9)</PresentationFormat>
  <Paragraphs>76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Courier New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Top Soccer Teams Progression from 2008 to 2016</dc:title>
  <dc:subject>PptxGenJS Presentation</dc:subject>
  <dc:creator>PptxGenJS</dc:creator>
  <cp:lastModifiedBy>Ch.SaraviaRosales001</cp:lastModifiedBy>
  <cp:revision>4</cp:revision>
  <dcterms:created xsi:type="dcterms:W3CDTF">2026-04-22T21:42:22Z</dcterms:created>
  <dcterms:modified xsi:type="dcterms:W3CDTF">2026-04-23T05:21:25Z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0x010100AB4BCE1D1FBE6E47B84B4756DE2F745B</vt:lpwstr>
  </property>
</Properties>
</file>